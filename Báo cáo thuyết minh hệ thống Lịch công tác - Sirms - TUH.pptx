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5" r:id="rId5"/>
    <p:sldId id="259" r:id="rId6"/>
    <p:sldId id="266" r:id="rId7"/>
    <p:sldId id="260" r:id="rId8"/>
    <p:sldId id="267" r:id="rId9"/>
    <p:sldId id="261" r:id="rId10"/>
    <p:sldId id="262" r:id="rId11"/>
    <p:sldId id="263" r:id="rId12"/>
    <p:sldId id="268" r:id="rId13"/>
    <p:sldId id="264"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5F7"/>
          </a:solidFill>
          <a:ln>
            <a:solidFill>
              <a:srgbClr val="F4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457200" cy="6858000"/>
          </a:xfrm>
          <a:prstGeom prst="rect">
            <a:avLst/>
          </a:prstGeom>
          <a:solidFill>
            <a:srgbClr val="0061A3"/>
          </a:solidFill>
          <a:ln>
            <a:solidFill>
              <a:srgbClr val="0061A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371600" y="1371600"/>
            <a:ext cx="9601200" cy="2082621"/>
          </a:xfrm>
          <a:prstGeom prst="rect">
            <a:avLst/>
          </a:prstGeom>
          <a:noFill/>
        </p:spPr>
        <p:txBody>
          <a:bodyPr wrap="square">
            <a:spAutoFit/>
          </a:bodyPr>
          <a:lstStyle/>
          <a:p>
            <a:pPr algn="ctr">
              <a:spcAft>
                <a:spcPts val="4000"/>
              </a:spcAft>
              <a:defRPr sz="3200" b="1">
                <a:solidFill>
                  <a:srgbClr val="0061A3"/>
                </a:solidFill>
                <a:latin typeface="Arial"/>
              </a:defRPr>
            </a:pPr>
            <a:r>
              <a:rPr dirty="0"/>
              <a:t>BÁO CÁO THUYẾT MINH</a:t>
            </a:r>
            <a:endParaRPr lang="en-US" dirty="0"/>
          </a:p>
          <a:p>
            <a:pPr algn="ctr">
              <a:spcAft>
                <a:spcPts val="4000"/>
              </a:spcAft>
              <a:defRPr sz="3200" b="1">
                <a:solidFill>
                  <a:srgbClr val="0061A3"/>
                </a:solidFill>
                <a:latin typeface="Arial"/>
              </a:defRPr>
            </a:pPr>
            <a:r>
              <a:rPr dirty="0"/>
              <a:t>HỆ THỐNG LỊCH CÔNG TÁC KẾT HỢP THEO DÕI THIẾT BỊ </a:t>
            </a:r>
            <a:r>
              <a:rPr lang="en-US" dirty="0"/>
              <a:t>NHỜ </a:t>
            </a:r>
            <a:r>
              <a:rPr dirty="0"/>
              <a:t>HỆ THỐNG SIRMS</a:t>
            </a:r>
          </a:p>
        </p:txBody>
      </p:sp>
      <p:sp>
        <p:nvSpPr>
          <p:cNvPr id="5" name="TextBox 4"/>
          <p:cNvSpPr txBox="1"/>
          <p:nvPr/>
        </p:nvSpPr>
        <p:spPr>
          <a:xfrm>
            <a:off x="1371600" y="4572000"/>
            <a:ext cx="9601200" cy="1828800"/>
          </a:xfrm>
          <a:prstGeom prst="rect">
            <a:avLst/>
          </a:prstGeom>
          <a:noFill/>
        </p:spPr>
        <p:txBody>
          <a:bodyPr wrap="square">
            <a:spAutoFit/>
          </a:bodyPr>
          <a:lstStyle/>
          <a:p>
            <a:endParaRPr/>
          </a:p>
          <a:p>
            <a:pPr>
              <a:spcAft>
                <a:spcPts val="600"/>
              </a:spcAft>
              <a:defRPr sz="1600">
                <a:solidFill>
                  <a:srgbClr val="222222"/>
                </a:solidFill>
                <a:latin typeface="Arial"/>
              </a:defRPr>
            </a:pPr>
            <a:r>
              <a:t>Đơn vị triển khai: Đài DVOR/DME Tuy Hòa</a:t>
            </a:r>
          </a:p>
          <a:p>
            <a:pPr>
              <a:spcAft>
                <a:spcPts val="600"/>
              </a:spcAft>
              <a:defRPr sz="1600">
                <a:solidFill>
                  <a:srgbClr val="222222"/>
                </a:solidFill>
                <a:latin typeface="Arial"/>
              </a:defRPr>
            </a:pPr>
            <a:r>
              <a:t>Tác giả / Hỗ trợ kỹ thuật: Nguyễn Hoàng Hải</a:t>
            </a:r>
          </a:p>
          <a:p>
            <a:pPr>
              <a:spcAft>
                <a:spcPts val="600"/>
              </a:spcAft>
              <a:defRPr sz="1600">
                <a:solidFill>
                  <a:srgbClr val="222222"/>
                </a:solidFill>
                <a:latin typeface="Arial"/>
              </a:defRPr>
            </a:pPr>
            <a:r>
              <a:t>Phiên bản tài liệu: 2.5 (Tích hợp PWA &amp; Sinh trắc học WebAuthn)</a:t>
            </a:r>
          </a:p>
          <a:p>
            <a:pPr>
              <a:spcAft>
                <a:spcPts val="600"/>
              </a:spcAft>
              <a:defRPr sz="1600">
                <a:solidFill>
                  <a:srgbClr val="222222"/>
                </a:solidFill>
                <a:latin typeface="Arial"/>
              </a:defRPr>
            </a:pPr>
            <a:r>
              <a:t>Thời gian cập nhật: Tháng 5 /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0061A3"/>
          </a:solidFill>
          <a:ln>
            <a:solidFill>
              <a:srgbClr val="0061A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10515600" cy="731520"/>
          </a:xfrm>
          <a:prstGeom prst="rect">
            <a:avLst/>
          </a:prstGeom>
          <a:noFill/>
        </p:spPr>
        <p:txBody>
          <a:bodyPr wrap="none">
            <a:spAutoFit/>
          </a:bodyPr>
          <a:lstStyle/>
          <a:p>
            <a:pPr>
              <a:defRPr sz="2600" b="1">
                <a:solidFill>
                  <a:srgbClr val="FFFFFF"/>
                </a:solidFill>
                <a:latin typeface="Arial"/>
              </a:defRPr>
            </a:pPr>
            <a:r>
              <a:t>1. TỔNG QUAN KIẾN TRÚC &amp; KHẢ NĂNG MỞ RỘNG</a:t>
            </a:r>
          </a:p>
        </p:txBody>
      </p:sp>
      <p:sp>
        <p:nvSpPr>
          <p:cNvPr id="4" name="TextBox 3"/>
          <p:cNvSpPr txBox="1"/>
          <p:nvPr/>
        </p:nvSpPr>
        <p:spPr>
          <a:xfrm>
            <a:off x="731520" y="1463040"/>
            <a:ext cx="10515600" cy="4754880"/>
          </a:xfrm>
          <a:prstGeom prst="rect">
            <a:avLst/>
          </a:prstGeom>
          <a:noFill/>
        </p:spPr>
        <p:txBody>
          <a:bodyPr wrap="square">
            <a:spAutoFit/>
          </a:bodyPr>
          <a:lstStyle/>
          <a:p>
            <a:pPr>
              <a:spcAft>
                <a:spcPts val="1600"/>
              </a:spcAft>
              <a:defRPr sz="1800">
                <a:solidFill>
                  <a:srgbClr val="222222"/>
                </a:solidFill>
                <a:latin typeface="Arial"/>
              </a:defRPr>
            </a:pPr>
            <a:r>
              <a:t>• Giải pháp số hóa toàn diện: Kết hợp giữa Quản lý lịch trực điều hành nội bộ và Giám sát thiết bị từ xa (SIRMS).</a:t>
            </a:r>
          </a:p>
          <a:p>
            <a:pPr>
              <a:spcAft>
                <a:spcPts val="1600"/>
              </a:spcAft>
              <a:defRPr sz="1800">
                <a:solidFill>
                  <a:srgbClr val="222222"/>
                </a:solidFill>
                <a:latin typeface="Arial"/>
              </a:defRPr>
            </a:pPr>
            <a:r>
              <a:t>• Kiến trúc Serverless / Micro-services: Tách bạch hoàn toàn giữa Data Collector (trạm nội bộ) và Cloud Backend.</a:t>
            </a:r>
          </a:p>
          <a:p>
            <a:pPr>
              <a:spcAft>
                <a:spcPts val="1600"/>
              </a:spcAft>
              <a:defRPr sz="1800">
                <a:solidFill>
                  <a:srgbClr val="222222"/>
                </a:solidFill>
                <a:latin typeface="Arial"/>
              </a:defRPr>
            </a:pPr>
            <a:r>
              <a:t>• Khả năng linh hoạt vượt trội: Dễ dàng áp dụng cho các đơn vị đài trạm CNS khác mà không cần sửa đổi lõi hệ thống.</a:t>
            </a:r>
          </a:p>
          <a:p>
            <a:pPr>
              <a:spcAft>
                <a:spcPts val="1600"/>
              </a:spcAft>
              <a:defRPr sz="1800">
                <a:solidFill>
                  <a:srgbClr val="222222"/>
                </a:solidFill>
                <a:latin typeface="Arial"/>
              </a:defRPr>
            </a:pPr>
            <a:r>
              <a:t>• Tối ưu hóa chi phí (Zero Server Cost): Hoạt động 100% trên hạ tầng Cloudflare (Pages, Workers, D1, KV), không tốn chi phí mua sắm hay duy trì server.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0061A3"/>
          </a:solidFill>
          <a:ln>
            <a:solidFill>
              <a:srgbClr val="0061A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10515600" cy="731520"/>
          </a:xfrm>
          <a:prstGeom prst="rect">
            <a:avLst/>
          </a:prstGeom>
          <a:noFill/>
        </p:spPr>
        <p:txBody>
          <a:bodyPr wrap="none">
            <a:spAutoFit/>
          </a:bodyPr>
          <a:lstStyle/>
          <a:p>
            <a:pPr>
              <a:defRPr sz="2600" b="1">
                <a:solidFill>
                  <a:srgbClr val="FFFFFF"/>
                </a:solidFill>
                <a:latin typeface="Arial"/>
              </a:defRPr>
            </a:pPr>
            <a:r>
              <a:t>2.1. QUẢN LÝ LỊCH CÔNG TÁC &amp; CÔNG VIỆC HÀNG NGÀY</a:t>
            </a:r>
          </a:p>
        </p:txBody>
      </p:sp>
      <p:sp>
        <p:nvSpPr>
          <p:cNvPr id="4" name="TextBox 3"/>
          <p:cNvSpPr txBox="1"/>
          <p:nvPr/>
        </p:nvSpPr>
        <p:spPr>
          <a:xfrm>
            <a:off x="731520" y="1463040"/>
            <a:ext cx="10515600" cy="4754880"/>
          </a:xfrm>
          <a:prstGeom prst="rect">
            <a:avLst/>
          </a:prstGeom>
          <a:noFill/>
        </p:spPr>
        <p:txBody>
          <a:bodyPr wrap="square">
            <a:spAutoFit/>
          </a:bodyPr>
          <a:lstStyle/>
          <a:p>
            <a:pPr>
              <a:spcAft>
                <a:spcPts val="1600"/>
              </a:spcAft>
              <a:defRPr sz="1800">
                <a:solidFill>
                  <a:srgbClr val="222222"/>
                </a:solidFill>
                <a:latin typeface="Arial"/>
              </a:defRPr>
            </a:pPr>
            <a:r>
              <a:t>• Quản lý Lịch trực ban theo ca: Phân chia ca Hành chính (X), Ca 1 (X1), Ca 2 (X2), Ca 3 (Đ) với màu sắc trực quan. Hỗ trợ import tự động từ file Excel.</a:t>
            </a:r>
          </a:p>
          <a:p>
            <a:pPr>
              <a:spcAft>
                <a:spcPts val="1600"/>
              </a:spcAft>
              <a:defRPr sz="1800">
                <a:solidFill>
                  <a:srgbClr val="222222"/>
                </a:solidFill>
                <a:latin typeface="Arial"/>
              </a:defRPr>
            </a:pPr>
            <a:r>
              <a:t>• Quản lý Công việc hàng ngày (Tasks): Thêm, sửa, xóa công việc theo khung giờ, gán nhân sự tham gia và theo dõi tiến độ.</a:t>
            </a:r>
          </a:p>
          <a:p>
            <a:pPr>
              <a:spcAft>
                <a:spcPts val="1600"/>
              </a:spcAft>
              <a:defRPr sz="1800">
                <a:solidFill>
                  <a:srgbClr val="222222"/>
                </a:solidFill>
                <a:latin typeface="Arial"/>
              </a:defRPr>
            </a:pPr>
            <a:r>
              <a:t>• Công việc định kỳ tự động (Recurring Tasks): Hỗ trợ thiết lập việc lặp lại theo ngày cố định, dải ngày, hoặc Thứ 6 ưu tiên (Friday Priority).</a:t>
            </a:r>
          </a:p>
          <a:p>
            <a:pPr>
              <a:spcAft>
                <a:spcPts val="1600"/>
              </a:spcAft>
              <a:defRPr sz="1800">
                <a:solidFill>
                  <a:srgbClr val="222222"/>
                </a:solidFill>
                <a:latin typeface="Arial"/>
              </a:defRPr>
            </a:pPr>
            <a:r>
              <a:t>• Ghi chú nhanh (Daily Notes): Công cụ tiện lợi giúp ca trực ghi nhận sự kiện phát sinh và bàn giao ca dễ dàng.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65ECC1-A6F4-C7D8-B403-F52944C863A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B7F608E-7186-14E8-FAC7-A5F48AED995B}"/>
              </a:ext>
            </a:extLst>
          </p:cNvPr>
          <p:cNvSpPr/>
          <p:nvPr/>
        </p:nvSpPr>
        <p:spPr>
          <a:xfrm>
            <a:off x="0" y="0"/>
            <a:ext cx="12191695" cy="1097280"/>
          </a:xfrm>
          <a:prstGeom prst="rect">
            <a:avLst/>
          </a:prstGeom>
          <a:solidFill>
            <a:srgbClr val="0061A3"/>
          </a:solidFill>
          <a:ln>
            <a:solidFill>
              <a:srgbClr val="0061A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B3D53AA7-179B-6C07-4583-D5BE7E0EA79D}"/>
              </a:ext>
            </a:extLst>
          </p:cNvPr>
          <p:cNvSpPr txBox="1"/>
          <p:nvPr/>
        </p:nvSpPr>
        <p:spPr>
          <a:xfrm>
            <a:off x="731520" y="182880"/>
            <a:ext cx="10515600" cy="731520"/>
          </a:xfrm>
          <a:prstGeom prst="rect">
            <a:avLst/>
          </a:prstGeom>
          <a:noFill/>
        </p:spPr>
        <p:txBody>
          <a:bodyPr wrap="none">
            <a:spAutoFit/>
          </a:bodyPr>
          <a:lstStyle/>
          <a:p>
            <a:pPr>
              <a:defRPr sz="2600" b="1">
                <a:solidFill>
                  <a:srgbClr val="FFFFFF"/>
                </a:solidFill>
                <a:latin typeface="Arial"/>
              </a:defRPr>
            </a:pPr>
            <a:r>
              <a:t>2.1. QUẢN LÝ LỊCH CÔNG TÁC &amp; CÔNG VIỆC HÀNG NGÀY</a:t>
            </a:r>
          </a:p>
        </p:txBody>
      </p:sp>
      <p:pic>
        <p:nvPicPr>
          <p:cNvPr id="6" name="Picture 5">
            <a:extLst>
              <a:ext uri="{FF2B5EF4-FFF2-40B4-BE49-F238E27FC236}">
                <a16:creationId xmlns:a16="http://schemas.microsoft.com/office/drawing/2014/main" id="{F28D130A-D7BB-5308-AAF4-EFCAA9748FC8}"/>
              </a:ext>
            </a:extLst>
          </p:cNvPr>
          <p:cNvPicPr>
            <a:picLocks noChangeAspect="1"/>
          </p:cNvPicPr>
          <p:nvPr/>
        </p:nvPicPr>
        <p:blipFill>
          <a:blip r:embed="rId2"/>
          <a:stretch>
            <a:fillRect/>
          </a:stretch>
        </p:blipFill>
        <p:spPr>
          <a:xfrm>
            <a:off x="1456649" y="1463040"/>
            <a:ext cx="9065342" cy="5099255"/>
          </a:xfrm>
          <a:prstGeom prst="rect">
            <a:avLst/>
          </a:prstGeom>
        </p:spPr>
      </p:pic>
    </p:spTree>
    <p:extLst>
      <p:ext uri="{BB962C8B-B14F-4D97-AF65-F5344CB8AC3E}">
        <p14:creationId xmlns:p14="http://schemas.microsoft.com/office/powerpoint/2010/main" val="10191817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0061A3"/>
          </a:solidFill>
          <a:ln>
            <a:solidFill>
              <a:srgbClr val="0061A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10515600" cy="731520"/>
          </a:xfrm>
          <a:prstGeom prst="rect">
            <a:avLst/>
          </a:prstGeom>
          <a:noFill/>
        </p:spPr>
        <p:txBody>
          <a:bodyPr wrap="none">
            <a:spAutoFit/>
          </a:bodyPr>
          <a:lstStyle/>
          <a:p>
            <a:pPr>
              <a:defRPr sz="2600" b="1">
                <a:solidFill>
                  <a:srgbClr val="FFFFFF"/>
                </a:solidFill>
                <a:latin typeface="Arial"/>
              </a:defRPr>
            </a:pPr>
            <a:r>
              <a:t>2.2. GIÁM SÁT THÔNG SỐ ĐÀI DẪN ĐƯỜNG (SIRMS)</a:t>
            </a:r>
          </a:p>
        </p:txBody>
      </p:sp>
      <p:sp>
        <p:nvSpPr>
          <p:cNvPr id="4" name="TextBox 3"/>
          <p:cNvSpPr txBox="1"/>
          <p:nvPr/>
        </p:nvSpPr>
        <p:spPr>
          <a:xfrm>
            <a:off x="731520" y="1463040"/>
            <a:ext cx="10515600" cy="4754880"/>
          </a:xfrm>
          <a:prstGeom prst="rect">
            <a:avLst/>
          </a:prstGeom>
          <a:noFill/>
        </p:spPr>
        <p:txBody>
          <a:bodyPr wrap="square">
            <a:spAutoFit/>
          </a:bodyPr>
          <a:lstStyle/>
          <a:p>
            <a:pPr>
              <a:spcAft>
                <a:spcPts val="1600"/>
              </a:spcAft>
              <a:defRPr sz="1800">
                <a:solidFill>
                  <a:srgbClr val="222222"/>
                </a:solidFill>
                <a:latin typeface="Arial"/>
              </a:defRPr>
            </a:pPr>
            <a:r>
              <a:t>• Bảng thông số trực quan (Navaid Widget): Hiển thị thời gian thực các tham số VOR (Azimuth, Mod 30Hz, Mod 9960Hz, Deviation, RF Level) và DME (Delay, Spacing, Tx Power, ERP, Efficiency).</a:t>
            </a:r>
          </a:p>
          <a:p>
            <a:pPr>
              <a:spcAft>
                <a:spcPts val="1600"/>
              </a:spcAft>
              <a:defRPr sz="1800">
                <a:solidFill>
                  <a:srgbClr val="222222"/>
                </a:solidFill>
                <a:latin typeface="Arial"/>
              </a:defRPr>
            </a:pPr>
            <a:r>
              <a:t>• Biểu đồ phân tích lịch sử: Tích hợp ApexCharts theo dõi biến động thông số trong 48 giờ hoặc 7 ngày qua, phát hiện sớm suy giảm chất lượng.</a:t>
            </a:r>
          </a:p>
          <a:p>
            <a:pPr>
              <a:spcAft>
                <a:spcPts val="1600"/>
              </a:spcAft>
              <a:defRPr sz="1800">
                <a:solidFill>
                  <a:srgbClr val="222222"/>
                </a:solidFill>
                <a:latin typeface="Arial"/>
              </a:defRPr>
            </a:pPr>
            <a:r>
              <a:t>• Hệ thống Cảnh báo Ngưỡng Giới Hạn: Thiết lập ngưỡng Max/Min cho từng tham số. Phân loại tự động: Cảnh báo (Alert), Báo động (Alarm), Báo động Khẩn cấp (Critical Alarm).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5B3CD-8E17-01CE-ACCC-3021C8D1450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9D0B069-80A9-4FB6-3F57-2D0A3A050EB1}"/>
              </a:ext>
            </a:extLst>
          </p:cNvPr>
          <p:cNvSpPr/>
          <p:nvPr/>
        </p:nvSpPr>
        <p:spPr>
          <a:xfrm>
            <a:off x="0" y="0"/>
            <a:ext cx="12191695" cy="1097280"/>
          </a:xfrm>
          <a:prstGeom prst="rect">
            <a:avLst/>
          </a:prstGeom>
          <a:solidFill>
            <a:srgbClr val="0061A3"/>
          </a:solidFill>
          <a:ln>
            <a:solidFill>
              <a:srgbClr val="0061A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901025C9-0DF3-3BC9-DDFA-B6A8A1A3EAE7}"/>
              </a:ext>
            </a:extLst>
          </p:cNvPr>
          <p:cNvSpPr txBox="1"/>
          <p:nvPr/>
        </p:nvSpPr>
        <p:spPr>
          <a:xfrm>
            <a:off x="731520" y="182880"/>
            <a:ext cx="10515600" cy="731520"/>
          </a:xfrm>
          <a:prstGeom prst="rect">
            <a:avLst/>
          </a:prstGeom>
          <a:noFill/>
        </p:spPr>
        <p:txBody>
          <a:bodyPr wrap="none">
            <a:spAutoFit/>
          </a:bodyPr>
          <a:lstStyle/>
          <a:p>
            <a:pPr>
              <a:defRPr sz="2600" b="1">
                <a:solidFill>
                  <a:srgbClr val="FFFFFF"/>
                </a:solidFill>
                <a:latin typeface="Arial"/>
              </a:defRPr>
            </a:pPr>
            <a:r>
              <a:t>2.2. GIÁM SÁT THÔNG SỐ ĐÀI DẪN ĐƯỜNG (SIRMS)</a:t>
            </a:r>
          </a:p>
        </p:txBody>
      </p:sp>
      <p:pic>
        <p:nvPicPr>
          <p:cNvPr id="6" name="Picture 5">
            <a:extLst>
              <a:ext uri="{FF2B5EF4-FFF2-40B4-BE49-F238E27FC236}">
                <a16:creationId xmlns:a16="http://schemas.microsoft.com/office/drawing/2014/main" id="{B828D8F9-B9DC-6395-1639-83B1DCFE0939}"/>
              </a:ext>
            </a:extLst>
          </p:cNvPr>
          <p:cNvPicPr>
            <a:picLocks noChangeAspect="1"/>
          </p:cNvPicPr>
          <p:nvPr/>
        </p:nvPicPr>
        <p:blipFill>
          <a:blip r:embed="rId2"/>
          <a:stretch>
            <a:fillRect/>
          </a:stretch>
        </p:blipFill>
        <p:spPr>
          <a:xfrm>
            <a:off x="1632002" y="1463040"/>
            <a:ext cx="8927690" cy="5021826"/>
          </a:xfrm>
          <a:prstGeom prst="rect">
            <a:avLst/>
          </a:prstGeom>
        </p:spPr>
      </p:pic>
    </p:spTree>
    <p:extLst>
      <p:ext uri="{BB962C8B-B14F-4D97-AF65-F5344CB8AC3E}">
        <p14:creationId xmlns:p14="http://schemas.microsoft.com/office/powerpoint/2010/main" val="24711876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0061A3"/>
          </a:solidFill>
          <a:ln>
            <a:solidFill>
              <a:srgbClr val="0061A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10515600" cy="731520"/>
          </a:xfrm>
          <a:prstGeom prst="rect">
            <a:avLst/>
          </a:prstGeom>
          <a:noFill/>
        </p:spPr>
        <p:txBody>
          <a:bodyPr wrap="none">
            <a:spAutoFit/>
          </a:bodyPr>
          <a:lstStyle/>
          <a:p>
            <a:pPr>
              <a:defRPr sz="2600" b="1">
                <a:solidFill>
                  <a:srgbClr val="FFFFFF"/>
                </a:solidFill>
                <a:latin typeface="Arial"/>
              </a:defRPr>
            </a:pPr>
            <a:r>
              <a:t>2.3. BẢO MẬT ĐA TẦNG &amp; PWA PUSH NOTIFICATIONS</a:t>
            </a:r>
          </a:p>
        </p:txBody>
      </p:sp>
      <p:sp>
        <p:nvSpPr>
          <p:cNvPr id="4" name="TextBox 3"/>
          <p:cNvSpPr txBox="1"/>
          <p:nvPr/>
        </p:nvSpPr>
        <p:spPr>
          <a:xfrm>
            <a:off x="731520" y="1463040"/>
            <a:ext cx="10515600" cy="4754880"/>
          </a:xfrm>
          <a:prstGeom prst="rect">
            <a:avLst/>
          </a:prstGeom>
          <a:noFill/>
        </p:spPr>
        <p:txBody>
          <a:bodyPr wrap="square">
            <a:spAutoFit/>
          </a:bodyPr>
          <a:lstStyle/>
          <a:p>
            <a:pPr>
              <a:spcAft>
                <a:spcPts val="1600"/>
              </a:spcAft>
              <a:defRPr sz="1800">
                <a:solidFill>
                  <a:srgbClr val="222222"/>
                </a:solidFill>
                <a:latin typeface="Arial"/>
              </a:defRPr>
            </a:pPr>
            <a:r>
              <a:t>• Phân quyền người dùng chặt chẽ: Chia làm 2 cấp quyền ADMIN (Quản trị) và VIEWER (Người xem).</a:t>
            </a:r>
          </a:p>
          <a:p>
            <a:pPr>
              <a:spcAft>
                <a:spcPts val="1600"/>
              </a:spcAft>
              <a:defRPr sz="1800">
                <a:solidFill>
                  <a:srgbClr val="222222"/>
                </a:solidFill>
                <a:latin typeface="Arial"/>
              </a:defRPr>
            </a:pPr>
            <a:r>
              <a:t>• Xác thực Fallback &amp; Chống Brute-force: Đăng nhập bằng mã PIN băm (hash) kết hợp tự động kích hoạt Captcha toán học khi nhập sai nhiều lần.</a:t>
            </a:r>
          </a:p>
          <a:p>
            <a:pPr>
              <a:spcAft>
                <a:spcPts val="1600"/>
              </a:spcAft>
              <a:defRPr sz="1800">
                <a:solidFill>
                  <a:srgbClr val="222222"/>
                </a:solidFill>
                <a:latin typeface="Arial"/>
              </a:defRPr>
            </a:pPr>
            <a:r>
              <a:t>• Đăng nhập Sinh trắc học (WebAuthn / Passkeys): Đăng nhập siêu nhanh bằng Face ID / Touch ID / Vân tay trên PWA. Xác thực chữ ký ECDSA P-256 qua Web Crypto API.</a:t>
            </a:r>
          </a:p>
          <a:p>
            <a:pPr>
              <a:spcAft>
                <a:spcPts val="1600"/>
              </a:spcAft>
              <a:defRPr sz="1800">
                <a:solidFill>
                  <a:srgbClr val="222222"/>
                </a:solidFill>
                <a:latin typeface="Arial"/>
              </a:defRPr>
            </a:pPr>
            <a:r>
              <a:t>• Thông báo đẩy PWA (Web Push Notifications): Gửi cảnh báo thời gian thực tới điện thoại của kỹ thuật viên khi thông số vượt ngưỡng.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0B9D77-BD2E-5A35-8753-E6CF7904561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D82CCAB-BBF1-11D4-3BE6-621FF6355F7D}"/>
              </a:ext>
            </a:extLst>
          </p:cNvPr>
          <p:cNvSpPr/>
          <p:nvPr/>
        </p:nvSpPr>
        <p:spPr>
          <a:xfrm>
            <a:off x="0" y="0"/>
            <a:ext cx="12191695" cy="1097280"/>
          </a:xfrm>
          <a:prstGeom prst="rect">
            <a:avLst/>
          </a:prstGeom>
          <a:solidFill>
            <a:srgbClr val="0061A3"/>
          </a:solidFill>
          <a:ln>
            <a:solidFill>
              <a:srgbClr val="0061A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6811C990-CFA6-91F4-9319-BC2C1EB4D54C}"/>
              </a:ext>
            </a:extLst>
          </p:cNvPr>
          <p:cNvSpPr txBox="1"/>
          <p:nvPr/>
        </p:nvSpPr>
        <p:spPr>
          <a:xfrm>
            <a:off x="731520" y="182880"/>
            <a:ext cx="10515600" cy="731520"/>
          </a:xfrm>
          <a:prstGeom prst="rect">
            <a:avLst/>
          </a:prstGeom>
          <a:noFill/>
        </p:spPr>
        <p:txBody>
          <a:bodyPr wrap="none">
            <a:spAutoFit/>
          </a:bodyPr>
          <a:lstStyle/>
          <a:p>
            <a:pPr>
              <a:defRPr sz="2600" b="1">
                <a:solidFill>
                  <a:srgbClr val="FFFFFF"/>
                </a:solidFill>
                <a:latin typeface="Arial"/>
              </a:defRPr>
            </a:pPr>
            <a:r>
              <a:t>2.3. BẢO MẬT ĐA TẦNG &amp; PWA PUSH NOTIFICATIONS</a:t>
            </a:r>
          </a:p>
        </p:txBody>
      </p:sp>
      <p:pic>
        <p:nvPicPr>
          <p:cNvPr id="6" name="Picture 5">
            <a:extLst>
              <a:ext uri="{FF2B5EF4-FFF2-40B4-BE49-F238E27FC236}">
                <a16:creationId xmlns:a16="http://schemas.microsoft.com/office/drawing/2014/main" id="{A28D07A0-8682-1FDC-A02A-12EE558C374D}"/>
              </a:ext>
            </a:extLst>
          </p:cNvPr>
          <p:cNvPicPr>
            <a:picLocks noChangeAspect="1"/>
          </p:cNvPicPr>
          <p:nvPr/>
        </p:nvPicPr>
        <p:blipFill>
          <a:blip r:embed="rId2"/>
          <a:stretch>
            <a:fillRect/>
          </a:stretch>
        </p:blipFill>
        <p:spPr>
          <a:xfrm>
            <a:off x="1933536" y="1277701"/>
            <a:ext cx="3482871" cy="4832555"/>
          </a:xfrm>
          <a:prstGeom prst="rect">
            <a:avLst/>
          </a:prstGeom>
        </p:spPr>
      </p:pic>
      <p:pic>
        <p:nvPicPr>
          <p:cNvPr id="10" name="Picture 9">
            <a:extLst>
              <a:ext uri="{FF2B5EF4-FFF2-40B4-BE49-F238E27FC236}">
                <a16:creationId xmlns:a16="http://schemas.microsoft.com/office/drawing/2014/main" id="{08E9E28D-DE89-FCB4-E9EE-C2ED38395FE2}"/>
              </a:ext>
            </a:extLst>
          </p:cNvPr>
          <p:cNvPicPr>
            <a:picLocks noChangeAspect="1"/>
          </p:cNvPicPr>
          <p:nvPr/>
        </p:nvPicPr>
        <p:blipFill>
          <a:blip r:embed="rId3"/>
          <a:stretch>
            <a:fillRect/>
          </a:stretch>
        </p:blipFill>
        <p:spPr>
          <a:xfrm>
            <a:off x="7569340" y="1280160"/>
            <a:ext cx="2233053" cy="4832555"/>
          </a:xfrm>
          <a:prstGeom prst="rect">
            <a:avLst/>
          </a:prstGeom>
        </p:spPr>
      </p:pic>
      <p:sp>
        <p:nvSpPr>
          <p:cNvPr id="11" name="TextBox 10">
            <a:extLst>
              <a:ext uri="{FF2B5EF4-FFF2-40B4-BE49-F238E27FC236}">
                <a16:creationId xmlns:a16="http://schemas.microsoft.com/office/drawing/2014/main" id="{3F3D0013-05F6-E394-7626-B1F41F8AC5E6}"/>
              </a:ext>
            </a:extLst>
          </p:cNvPr>
          <p:cNvSpPr txBox="1"/>
          <p:nvPr/>
        </p:nvSpPr>
        <p:spPr>
          <a:xfrm>
            <a:off x="5801032" y="3185652"/>
            <a:ext cx="1355509" cy="646331"/>
          </a:xfrm>
          <a:prstGeom prst="rect">
            <a:avLst/>
          </a:prstGeom>
          <a:noFill/>
        </p:spPr>
        <p:txBody>
          <a:bodyPr wrap="square" rtlCol="0">
            <a:spAutoFit/>
          </a:bodyPr>
          <a:lstStyle/>
          <a:p>
            <a:pPr algn="ctr"/>
            <a:r>
              <a:rPr lang="en-US" dirty="0"/>
              <a:t>Giao </a:t>
            </a:r>
            <a:r>
              <a:rPr lang="en-US" dirty="0" err="1"/>
              <a:t>diện</a:t>
            </a:r>
            <a:endParaRPr lang="en-US" dirty="0"/>
          </a:p>
          <a:p>
            <a:pPr algn="ctr"/>
            <a:r>
              <a:rPr lang="en-US" dirty="0"/>
              <a:t>PC/Mobile</a:t>
            </a:r>
            <a:endParaRPr lang="vi-VN" dirty="0"/>
          </a:p>
        </p:txBody>
      </p:sp>
    </p:spTree>
    <p:extLst>
      <p:ext uri="{BB962C8B-B14F-4D97-AF65-F5344CB8AC3E}">
        <p14:creationId xmlns:p14="http://schemas.microsoft.com/office/powerpoint/2010/main" val="19973722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0061A3"/>
          </a:solidFill>
          <a:ln>
            <a:solidFill>
              <a:srgbClr val="0061A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10515600" cy="731520"/>
          </a:xfrm>
          <a:prstGeom prst="rect">
            <a:avLst/>
          </a:prstGeom>
          <a:noFill/>
        </p:spPr>
        <p:txBody>
          <a:bodyPr wrap="none">
            <a:spAutoFit/>
          </a:bodyPr>
          <a:lstStyle/>
          <a:p>
            <a:pPr>
              <a:defRPr sz="2600" b="1">
                <a:solidFill>
                  <a:srgbClr val="FFFFFF"/>
                </a:solidFill>
                <a:latin typeface="Arial"/>
              </a:defRPr>
            </a:pPr>
            <a:r>
              <a:t>3. QUY TRÌNH THU THẬP DỮ LIỆU LOCAL (PYTHON SCRIPT)</a:t>
            </a:r>
          </a:p>
        </p:txBody>
      </p:sp>
      <p:sp>
        <p:nvSpPr>
          <p:cNvPr id="4" name="TextBox 3"/>
          <p:cNvSpPr txBox="1"/>
          <p:nvPr/>
        </p:nvSpPr>
        <p:spPr>
          <a:xfrm>
            <a:off x="731520" y="1463040"/>
            <a:ext cx="10515600" cy="4754880"/>
          </a:xfrm>
          <a:prstGeom prst="rect">
            <a:avLst/>
          </a:prstGeom>
          <a:noFill/>
        </p:spPr>
        <p:txBody>
          <a:bodyPr wrap="square">
            <a:spAutoFit/>
          </a:bodyPr>
          <a:lstStyle/>
          <a:p>
            <a:pPr>
              <a:spcAft>
                <a:spcPts val="1600"/>
              </a:spcAft>
              <a:defRPr sz="1800">
                <a:solidFill>
                  <a:srgbClr val="222222"/>
                </a:solidFill>
                <a:latin typeface="Arial"/>
              </a:defRPr>
            </a:pPr>
            <a:r>
              <a:t>• Service chạy nền 24/7 (Daemon): Hoạt động độc lập trên PC nội bộ của đài trạm.</a:t>
            </a:r>
          </a:p>
          <a:p>
            <a:pPr>
              <a:spcAft>
                <a:spcPts val="1600"/>
              </a:spcAft>
              <a:defRPr sz="1800">
                <a:solidFill>
                  <a:srgbClr val="222222"/>
                </a:solidFill>
                <a:latin typeface="Arial"/>
              </a:defRPr>
            </a:pPr>
            <a:r>
              <a:t>• Vòng lặp Polling đa luồng: Tự động truy vấn thiết bị phần cứng (192.168.105.25/alldata.json hoặc SNMP get) mỗi 5 giây.</a:t>
            </a:r>
          </a:p>
          <a:p>
            <a:pPr>
              <a:spcAft>
                <a:spcPts val="1600"/>
              </a:spcAft>
              <a:defRPr sz="1800">
                <a:solidFill>
                  <a:srgbClr val="222222"/>
                </a:solidFill>
                <a:latin typeface="Arial"/>
              </a:defRPr>
            </a:pPr>
            <a:r>
              <a:t>• Chuẩn hóa dữ liệu tại nguồn: Hàm safe_float() bóc tách số và chia tỷ lệ (10/100) để đưa về đúng đơn vị đo lường thực tế (Ví dụ: 249.46°, 29.4 Hz, 100%).</a:t>
            </a:r>
          </a:p>
          <a:p>
            <a:pPr>
              <a:spcAft>
                <a:spcPts val="1600"/>
              </a:spcAft>
              <a:defRPr sz="1800">
                <a:solidFill>
                  <a:srgbClr val="222222"/>
                </a:solidFill>
                <a:latin typeface="Arial"/>
              </a:defRPr>
            </a:pPr>
            <a:r>
              <a:t>• Phục vụ qua HTTP Flask: Mở port 5050 cung cấp các endpoint /navaid và /health cho Cloudflare Tunnel kết nối.</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0061A3"/>
          </a:solidFill>
          <a:ln>
            <a:solidFill>
              <a:srgbClr val="0061A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10515600" cy="731520"/>
          </a:xfrm>
          <a:prstGeom prst="rect">
            <a:avLst/>
          </a:prstGeom>
          <a:noFill/>
        </p:spPr>
        <p:txBody>
          <a:bodyPr wrap="none">
            <a:spAutoFit/>
          </a:bodyPr>
          <a:lstStyle/>
          <a:p>
            <a:pPr>
              <a:defRPr sz="2600" b="1">
                <a:solidFill>
                  <a:srgbClr val="FFFFFF"/>
                </a:solidFill>
                <a:latin typeface="Arial"/>
              </a:defRPr>
            </a:pPr>
            <a:r>
              <a:t>BẢNG CÁC THAM SỐ CHUẨN HÓA TRONG PYTHON</a:t>
            </a:r>
          </a:p>
        </p:txBody>
      </p:sp>
      <p:graphicFrame>
        <p:nvGraphicFramePr>
          <p:cNvPr id="4" name="Table 3"/>
          <p:cNvGraphicFramePr>
            <a:graphicFrameLocks noGrp="1"/>
          </p:cNvGraphicFramePr>
          <p:nvPr/>
        </p:nvGraphicFramePr>
        <p:xfrm>
          <a:off x="731520" y="1463040"/>
          <a:ext cx="10698480" cy="475488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926080">
                  <a:extLst>
                    <a:ext uri="{9D8B030D-6E8A-4147-A177-3AD203B41FA5}">
                      <a16:colId xmlns:a16="http://schemas.microsoft.com/office/drawing/2014/main" val="20003"/>
                    </a:ext>
                  </a:extLst>
                </a:gridCol>
                <a:gridCol w="2560320">
                  <a:extLst>
                    <a:ext uri="{9D8B030D-6E8A-4147-A177-3AD203B41FA5}">
                      <a16:colId xmlns:a16="http://schemas.microsoft.com/office/drawing/2014/main" val="20004"/>
                    </a:ext>
                  </a:extLst>
                </a:gridCol>
              </a:tblGrid>
              <a:tr h="432261">
                <a:tc>
                  <a:txBody>
                    <a:bodyPr/>
                    <a:lstStyle/>
                    <a:p>
                      <a:pPr>
                        <a:defRPr sz="1300" b="1">
                          <a:solidFill>
                            <a:srgbClr val="FFFFFF"/>
                          </a:solidFill>
                          <a:latin typeface="Arial"/>
                        </a:defRPr>
                      </a:pPr>
                      <a:r>
                        <a:t>Tên Tham Số</a:t>
                      </a:r>
                    </a:p>
                  </a:txBody>
                  <a:tcPr>
                    <a:solidFill>
                      <a:srgbClr val="0061A3"/>
                    </a:solidFill>
                  </a:tcPr>
                </a:tc>
                <a:tc>
                  <a:txBody>
                    <a:bodyPr/>
                    <a:lstStyle/>
                    <a:p>
                      <a:pPr>
                        <a:defRPr sz="1300" b="1">
                          <a:solidFill>
                            <a:srgbClr val="FFFFFF"/>
                          </a:solidFill>
                          <a:latin typeface="Arial"/>
                        </a:defRPr>
                      </a:pPr>
                      <a:r>
                        <a:t>Khối Thiết Bị</a:t>
                      </a:r>
                    </a:p>
                  </a:txBody>
                  <a:tcPr>
                    <a:solidFill>
                      <a:srgbClr val="0061A3"/>
                    </a:solidFill>
                  </a:tcPr>
                </a:tc>
                <a:tc>
                  <a:txBody>
                    <a:bodyPr/>
                    <a:lstStyle/>
                    <a:p>
                      <a:pPr>
                        <a:defRPr sz="1300" b="1">
                          <a:solidFill>
                            <a:srgbClr val="FFFFFF"/>
                          </a:solidFill>
                          <a:latin typeface="Arial"/>
                        </a:defRPr>
                      </a:pPr>
                      <a:r>
                        <a:t>Dữ Liệu Thô (Raw)</a:t>
                      </a:r>
                    </a:p>
                  </a:txBody>
                  <a:tcPr>
                    <a:solidFill>
                      <a:srgbClr val="0061A3"/>
                    </a:solidFill>
                  </a:tcPr>
                </a:tc>
                <a:tc>
                  <a:txBody>
                    <a:bodyPr/>
                    <a:lstStyle/>
                    <a:p>
                      <a:pPr>
                        <a:defRPr sz="1300" b="1">
                          <a:solidFill>
                            <a:srgbClr val="FFFFFF"/>
                          </a:solidFill>
                          <a:latin typeface="Arial"/>
                        </a:defRPr>
                      </a:pPr>
                      <a:r>
                        <a:t>Hàm Chuẩn Hóa</a:t>
                      </a:r>
                    </a:p>
                  </a:txBody>
                  <a:tcPr>
                    <a:solidFill>
                      <a:srgbClr val="0061A3"/>
                    </a:solidFill>
                  </a:tcPr>
                </a:tc>
                <a:tc>
                  <a:txBody>
                    <a:bodyPr/>
                    <a:lstStyle/>
                    <a:p>
                      <a:pPr>
                        <a:defRPr sz="1300" b="1">
                          <a:solidFill>
                            <a:srgbClr val="FFFFFF"/>
                          </a:solidFill>
                          <a:latin typeface="Arial"/>
                        </a:defRPr>
                      </a:pPr>
                      <a:r>
                        <a:t>Kết Quả Chuẩn Hóa</a:t>
                      </a:r>
                    </a:p>
                  </a:txBody>
                  <a:tcPr>
                    <a:solidFill>
                      <a:srgbClr val="0061A3"/>
                    </a:solidFill>
                  </a:tcPr>
                </a:tc>
                <a:extLst>
                  <a:ext uri="{0D108BD9-81ED-4DB2-BD59-A6C34878D82A}">
                    <a16:rowId xmlns:a16="http://schemas.microsoft.com/office/drawing/2014/main" val="10000"/>
                  </a:ext>
                </a:extLst>
              </a:tr>
              <a:tr h="432261">
                <a:tc>
                  <a:txBody>
                    <a:bodyPr/>
                    <a:lstStyle/>
                    <a:p>
                      <a:pPr>
                        <a:defRPr sz="1300">
                          <a:solidFill>
                            <a:srgbClr val="222222"/>
                          </a:solidFill>
                          <a:latin typeface="Arial"/>
                        </a:defRPr>
                      </a:pPr>
                      <a:r>
                        <a:t>Azimuth</a:t>
                      </a:r>
                    </a:p>
                  </a:txBody>
                  <a:tcPr>
                    <a:solidFill>
                      <a:srgbClr val="FFFFFF"/>
                    </a:solidFill>
                  </a:tcPr>
                </a:tc>
                <a:tc>
                  <a:txBody>
                    <a:bodyPr/>
                    <a:lstStyle/>
                    <a:p>
                      <a:pPr>
                        <a:defRPr sz="1300">
                          <a:solidFill>
                            <a:srgbClr val="222222"/>
                          </a:solidFill>
                          <a:latin typeface="Arial"/>
                        </a:defRPr>
                      </a:pPr>
                      <a:r>
                        <a:t>DVOR</a:t>
                      </a:r>
                    </a:p>
                  </a:txBody>
                  <a:tcPr>
                    <a:solidFill>
                      <a:srgbClr val="FFFFFF"/>
                    </a:solidFill>
                  </a:tcPr>
                </a:tc>
                <a:tc>
                  <a:txBody>
                    <a:bodyPr/>
                    <a:lstStyle/>
                    <a:p>
                      <a:pPr>
                        <a:defRPr sz="1300">
                          <a:solidFill>
                            <a:srgbClr val="222222"/>
                          </a:solidFill>
                          <a:latin typeface="Arial"/>
                        </a:defRPr>
                      </a:pPr>
                      <a:r>
                        <a:t>24946 degree</a:t>
                      </a:r>
                    </a:p>
                  </a:txBody>
                  <a:tcPr>
                    <a:solidFill>
                      <a:srgbClr val="FFFFFF"/>
                    </a:solidFill>
                  </a:tcPr>
                </a:tc>
                <a:tc>
                  <a:txBody>
                    <a:bodyPr/>
                    <a:lstStyle/>
                    <a:p>
                      <a:pPr>
                        <a:defRPr sz="1300">
                          <a:solidFill>
                            <a:srgbClr val="222222"/>
                          </a:solidFill>
                          <a:latin typeface="Arial"/>
                        </a:defRPr>
                      </a:pPr>
                      <a:r>
                        <a:t>safe_float(..., 100)</a:t>
                      </a:r>
                    </a:p>
                  </a:txBody>
                  <a:tcPr>
                    <a:solidFill>
                      <a:srgbClr val="FFFFFF"/>
                    </a:solidFill>
                  </a:tcPr>
                </a:tc>
                <a:tc>
                  <a:txBody>
                    <a:bodyPr/>
                    <a:lstStyle/>
                    <a:p>
                      <a:pPr>
                        <a:defRPr sz="1300">
                          <a:solidFill>
                            <a:srgbClr val="222222"/>
                          </a:solidFill>
                          <a:latin typeface="Arial"/>
                        </a:defRPr>
                      </a:pPr>
                      <a:r>
                        <a:t>249.46 °</a:t>
                      </a:r>
                    </a:p>
                  </a:txBody>
                  <a:tcPr>
                    <a:solidFill>
                      <a:srgbClr val="FFFFFF"/>
                    </a:solidFill>
                  </a:tcPr>
                </a:tc>
                <a:extLst>
                  <a:ext uri="{0D108BD9-81ED-4DB2-BD59-A6C34878D82A}">
                    <a16:rowId xmlns:a16="http://schemas.microsoft.com/office/drawing/2014/main" val="10001"/>
                  </a:ext>
                </a:extLst>
              </a:tr>
              <a:tr h="432261">
                <a:tc>
                  <a:txBody>
                    <a:bodyPr/>
                    <a:lstStyle/>
                    <a:p>
                      <a:pPr>
                        <a:defRPr sz="1300">
                          <a:solidFill>
                            <a:srgbClr val="222222"/>
                          </a:solidFill>
                          <a:latin typeface="Arial"/>
                        </a:defRPr>
                      </a:pPr>
                      <a:r>
                        <a:t>Mod30Hz</a:t>
                      </a:r>
                    </a:p>
                  </a:txBody>
                  <a:tcPr>
                    <a:solidFill>
                      <a:srgbClr val="F4F5F7"/>
                    </a:solidFill>
                  </a:tcPr>
                </a:tc>
                <a:tc>
                  <a:txBody>
                    <a:bodyPr/>
                    <a:lstStyle/>
                    <a:p>
                      <a:pPr>
                        <a:defRPr sz="1300">
                          <a:solidFill>
                            <a:srgbClr val="222222"/>
                          </a:solidFill>
                          <a:latin typeface="Arial"/>
                        </a:defRPr>
                      </a:pPr>
                      <a:r>
                        <a:t>DVOR</a:t>
                      </a:r>
                    </a:p>
                  </a:txBody>
                  <a:tcPr>
                    <a:solidFill>
                      <a:srgbClr val="F4F5F7"/>
                    </a:solidFill>
                  </a:tcPr>
                </a:tc>
                <a:tc>
                  <a:txBody>
                    <a:bodyPr/>
                    <a:lstStyle/>
                    <a:p>
                      <a:pPr>
                        <a:defRPr sz="1300">
                          <a:solidFill>
                            <a:srgbClr val="222222"/>
                          </a:solidFill>
                          <a:latin typeface="Arial"/>
                        </a:defRPr>
                      </a:pPr>
                      <a:r>
                        <a:t>294 Hz</a:t>
                      </a:r>
                    </a:p>
                  </a:txBody>
                  <a:tcPr>
                    <a:solidFill>
                      <a:srgbClr val="F4F5F7"/>
                    </a:solidFill>
                  </a:tcPr>
                </a:tc>
                <a:tc>
                  <a:txBody>
                    <a:bodyPr/>
                    <a:lstStyle/>
                    <a:p>
                      <a:pPr>
                        <a:defRPr sz="1300">
                          <a:solidFill>
                            <a:srgbClr val="222222"/>
                          </a:solidFill>
                          <a:latin typeface="Arial"/>
                        </a:defRPr>
                      </a:pPr>
                      <a:r>
                        <a:t>safe_float(..., 10)</a:t>
                      </a:r>
                    </a:p>
                  </a:txBody>
                  <a:tcPr>
                    <a:solidFill>
                      <a:srgbClr val="F4F5F7"/>
                    </a:solidFill>
                  </a:tcPr>
                </a:tc>
                <a:tc>
                  <a:txBody>
                    <a:bodyPr/>
                    <a:lstStyle/>
                    <a:p>
                      <a:pPr>
                        <a:defRPr sz="1300">
                          <a:solidFill>
                            <a:srgbClr val="222222"/>
                          </a:solidFill>
                          <a:latin typeface="Arial"/>
                        </a:defRPr>
                      </a:pPr>
                      <a:r>
                        <a:t>29.4 Hz</a:t>
                      </a:r>
                    </a:p>
                  </a:txBody>
                  <a:tcPr>
                    <a:solidFill>
                      <a:srgbClr val="F4F5F7"/>
                    </a:solidFill>
                  </a:tcPr>
                </a:tc>
                <a:extLst>
                  <a:ext uri="{0D108BD9-81ED-4DB2-BD59-A6C34878D82A}">
                    <a16:rowId xmlns:a16="http://schemas.microsoft.com/office/drawing/2014/main" val="10002"/>
                  </a:ext>
                </a:extLst>
              </a:tr>
              <a:tr h="432261">
                <a:tc>
                  <a:txBody>
                    <a:bodyPr/>
                    <a:lstStyle/>
                    <a:p>
                      <a:pPr>
                        <a:defRPr sz="1300">
                          <a:solidFill>
                            <a:srgbClr val="222222"/>
                          </a:solidFill>
                          <a:latin typeface="Arial"/>
                        </a:defRPr>
                      </a:pPr>
                      <a:r>
                        <a:t>Mod9960Hz</a:t>
                      </a:r>
                    </a:p>
                  </a:txBody>
                  <a:tcPr>
                    <a:solidFill>
                      <a:srgbClr val="FFFFFF"/>
                    </a:solidFill>
                  </a:tcPr>
                </a:tc>
                <a:tc>
                  <a:txBody>
                    <a:bodyPr/>
                    <a:lstStyle/>
                    <a:p>
                      <a:pPr>
                        <a:defRPr sz="1300">
                          <a:solidFill>
                            <a:srgbClr val="222222"/>
                          </a:solidFill>
                          <a:latin typeface="Arial"/>
                        </a:defRPr>
                      </a:pPr>
                      <a:r>
                        <a:t>DVOR</a:t>
                      </a:r>
                    </a:p>
                  </a:txBody>
                  <a:tcPr>
                    <a:solidFill>
                      <a:srgbClr val="FFFFFF"/>
                    </a:solidFill>
                  </a:tcPr>
                </a:tc>
                <a:tc>
                  <a:txBody>
                    <a:bodyPr/>
                    <a:lstStyle/>
                    <a:p>
                      <a:pPr>
                        <a:defRPr sz="1300">
                          <a:solidFill>
                            <a:srgbClr val="222222"/>
                          </a:solidFill>
                          <a:latin typeface="Arial"/>
                        </a:defRPr>
                      </a:pPr>
                      <a:r>
                        <a:t>307 Hz</a:t>
                      </a:r>
                    </a:p>
                  </a:txBody>
                  <a:tcPr>
                    <a:solidFill>
                      <a:srgbClr val="FFFFFF"/>
                    </a:solidFill>
                  </a:tcPr>
                </a:tc>
                <a:tc>
                  <a:txBody>
                    <a:bodyPr/>
                    <a:lstStyle/>
                    <a:p>
                      <a:pPr>
                        <a:defRPr sz="1300">
                          <a:solidFill>
                            <a:srgbClr val="222222"/>
                          </a:solidFill>
                          <a:latin typeface="Arial"/>
                        </a:defRPr>
                      </a:pPr>
                      <a:r>
                        <a:t>safe_float(..., 10)</a:t>
                      </a:r>
                    </a:p>
                  </a:txBody>
                  <a:tcPr>
                    <a:solidFill>
                      <a:srgbClr val="FFFFFF"/>
                    </a:solidFill>
                  </a:tcPr>
                </a:tc>
                <a:tc>
                  <a:txBody>
                    <a:bodyPr/>
                    <a:lstStyle/>
                    <a:p>
                      <a:pPr>
                        <a:defRPr sz="1300">
                          <a:solidFill>
                            <a:srgbClr val="222222"/>
                          </a:solidFill>
                          <a:latin typeface="Arial"/>
                        </a:defRPr>
                      </a:pPr>
                      <a:r>
                        <a:t>30.7 Hz</a:t>
                      </a:r>
                    </a:p>
                  </a:txBody>
                  <a:tcPr>
                    <a:solidFill>
                      <a:srgbClr val="FFFFFF"/>
                    </a:solidFill>
                  </a:tcPr>
                </a:tc>
                <a:extLst>
                  <a:ext uri="{0D108BD9-81ED-4DB2-BD59-A6C34878D82A}">
                    <a16:rowId xmlns:a16="http://schemas.microsoft.com/office/drawing/2014/main" val="10003"/>
                  </a:ext>
                </a:extLst>
              </a:tr>
              <a:tr h="432261">
                <a:tc>
                  <a:txBody>
                    <a:bodyPr/>
                    <a:lstStyle/>
                    <a:p>
                      <a:pPr>
                        <a:defRPr sz="1300">
                          <a:solidFill>
                            <a:srgbClr val="222222"/>
                          </a:solidFill>
                          <a:latin typeface="Arial"/>
                        </a:defRPr>
                      </a:pPr>
                      <a:r>
                        <a:t>Deviation</a:t>
                      </a:r>
                    </a:p>
                  </a:txBody>
                  <a:tcPr>
                    <a:solidFill>
                      <a:srgbClr val="F4F5F7"/>
                    </a:solidFill>
                  </a:tcPr>
                </a:tc>
                <a:tc>
                  <a:txBody>
                    <a:bodyPr/>
                    <a:lstStyle/>
                    <a:p>
                      <a:pPr>
                        <a:defRPr sz="1300">
                          <a:solidFill>
                            <a:srgbClr val="222222"/>
                          </a:solidFill>
                          <a:latin typeface="Arial"/>
                        </a:defRPr>
                      </a:pPr>
                      <a:r>
                        <a:t>DVOR</a:t>
                      </a:r>
                    </a:p>
                  </a:txBody>
                  <a:tcPr>
                    <a:solidFill>
                      <a:srgbClr val="F4F5F7"/>
                    </a:solidFill>
                  </a:tcPr>
                </a:tc>
                <a:tc>
                  <a:txBody>
                    <a:bodyPr/>
                    <a:lstStyle/>
                    <a:p>
                      <a:pPr>
                        <a:defRPr sz="1300">
                          <a:solidFill>
                            <a:srgbClr val="222222"/>
                          </a:solidFill>
                          <a:latin typeface="Arial"/>
                        </a:defRPr>
                      </a:pPr>
                      <a:r>
                        <a:t>1615</a:t>
                      </a:r>
                    </a:p>
                  </a:txBody>
                  <a:tcPr>
                    <a:solidFill>
                      <a:srgbClr val="F4F5F7"/>
                    </a:solidFill>
                  </a:tcPr>
                </a:tc>
                <a:tc>
                  <a:txBody>
                    <a:bodyPr/>
                    <a:lstStyle/>
                    <a:p>
                      <a:pPr>
                        <a:defRPr sz="1300">
                          <a:solidFill>
                            <a:srgbClr val="222222"/>
                          </a:solidFill>
                          <a:latin typeface="Arial"/>
                        </a:defRPr>
                      </a:pPr>
                      <a:r>
                        <a:t>safe_float(..., 100)</a:t>
                      </a:r>
                    </a:p>
                  </a:txBody>
                  <a:tcPr>
                    <a:solidFill>
                      <a:srgbClr val="F4F5F7"/>
                    </a:solidFill>
                  </a:tcPr>
                </a:tc>
                <a:tc>
                  <a:txBody>
                    <a:bodyPr/>
                    <a:lstStyle/>
                    <a:p>
                      <a:pPr>
                        <a:defRPr sz="1300">
                          <a:solidFill>
                            <a:srgbClr val="222222"/>
                          </a:solidFill>
                          <a:latin typeface="Arial"/>
                        </a:defRPr>
                      </a:pPr>
                      <a:r>
                        <a:t>16.15</a:t>
                      </a:r>
                    </a:p>
                  </a:txBody>
                  <a:tcPr>
                    <a:solidFill>
                      <a:srgbClr val="F4F5F7"/>
                    </a:solidFill>
                  </a:tcPr>
                </a:tc>
                <a:extLst>
                  <a:ext uri="{0D108BD9-81ED-4DB2-BD59-A6C34878D82A}">
                    <a16:rowId xmlns:a16="http://schemas.microsoft.com/office/drawing/2014/main" val="10004"/>
                  </a:ext>
                </a:extLst>
              </a:tr>
              <a:tr h="432261">
                <a:tc>
                  <a:txBody>
                    <a:bodyPr/>
                    <a:lstStyle/>
                    <a:p>
                      <a:pPr>
                        <a:defRPr sz="1300">
                          <a:solidFill>
                            <a:srgbClr val="222222"/>
                          </a:solidFill>
                          <a:latin typeface="Arial"/>
                        </a:defRPr>
                      </a:pPr>
                      <a:r>
                        <a:t>RFLevel</a:t>
                      </a:r>
                    </a:p>
                  </a:txBody>
                  <a:tcPr>
                    <a:solidFill>
                      <a:srgbClr val="FFFFFF"/>
                    </a:solidFill>
                  </a:tcPr>
                </a:tc>
                <a:tc>
                  <a:txBody>
                    <a:bodyPr/>
                    <a:lstStyle/>
                    <a:p>
                      <a:pPr>
                        <a:defRPr sz="1300">
                          <a:solidFill>
                            <a:srgbClr val="222222"/>
                          </a:solidFill>
                          <a:latin typeface="Arial"/>
                        </a:defRPr>
                      </a:pPr>
                      <a:r>
                        <a:t>DVOR</a:t>
                      </a:r>
                    </a:p>
                  </a:txBody>
                  <a:tcPr>
                    <a:solidFill>
                      <a:srgbClr val="FFFFFF"/>
                    </a:solidFill>
                  </a:tcPr>
                </a:tc>
                <a:tc>
                  <a:txBody>
                    <a:bodyPr/>
                    <a:lstStyle/>
                    <a:p>
                      <a:pPr>
                        <a:defRPr sz="1300">
                          <a:solidFill>
                            <a:srgbClr val="222222"/>
                          </a:solidFill>
                          <a:latin typeface="Arial"/>
                        </a:defRPr>
                      </a:pPr>
                      <a:r>
                        <a:t>-9 dBm</a:t>
                      </a:r>
                    </a:p>
                  </a:txBody>
                  <a:tcPr>
                    <a:solidFill>
                      <a:srgbClr val="FFFFFF"/>
                    </a:solidFill>
                  </a:tcPr>
                </a:tc>
                <a:tc>
                  <a:txBody>
                    <a:bodyPr/>
                    <a:lstStyle/>
                    <a:p>
                      <a:pPr>
                        <a:defRPr sz="1300">
                          <a:solidFill>
                            <a:srgbClr val="222222"/>
                          </a:solidFill>
                          <a:latin typeface="Arial"/>
                        </a:defRPr>
                      </a:pPr>
                      <a:r>
                        <a:t>safe_float(..., 10)</a:t>
                      </a:r>
                    </a:p>
                  </a:txBody>
                  <a:tcPr>
                    <a:solidFill>
                      <a:srgbClr val="FFFFFF"/>
                    </a:solidFill>
                  </a:tcPr>
                </a:tc>
                <a:tc>
                  <a:txBody>
                    <a:bodyPr/>
                    <a:lstStyle/>
                    <a:p>
                      <a:pPr>
                        <a:defRPr sz="1300">
                          <a:solidFill>
                            <a:srgbClr val="222222"/>
                          </a:solidFill>
                          <a:latin typeface="Arial"/>
                        </a:defRPr>
                      </a:pPr>
                      <a:r>
                        <a:t>-0.9 dBm</a:t>
                      </a:r>
                    </a:p>
                  </a:txBody>
                  <a:tcPr>
                    <a:solidFill>
                      <a:srgbClr val="FFFFFF"/>
                    </a:solidFill>
                  </a:tcPr>
                </a:tc>
                <a:extLst>
                  <a:ext uri="{0D108BD9-81ED-4DB2-BD59-A6C34878D82A}">
                    <a16:rowId xmlns:a16="http://schemas.microsoft.com/office/drawing/2014/main" val="10005"/>
                  </a:ext>
                </a:extLst>
              </a:tr>
              <a:tr h="432261">
                <a:tc>
                  <a:txBody>
                    <a:bodyPr/>
                    <a:lstStyle/>
                    <a:p>
                      <a:pPr>
                        <a:defRPr sz="1300">
                          <a:solidFill>
                            <a:srgbClr val="222222"/>
                          </a:solidFill>
                          <a:latin typeface="Arial"/>
                        </a:defRPr>
                      </a:pPr>
                      <a:r>
                        <a:t>Delay</a:t>
                      </a:r>
                    </a:p>
                  </a:txBody>
                  <a:tcPr>
                    <a:solidFill>
                      <a:srgbClr val="F4F5F7"/>
                    </a:solidFill>
                  </a:tcPr>
                </a:tc>
                <a:tc>
                  <a:txBody>
                    <a:bodyPr/>
                    <a:lstStyle/>
                    <a:p>
                      <a:pPr>
                        <a:defRPr sz="1300">
                          <a:solidFill>
                            <a:srgbClr val="222222"/>
                          </a:solidFill>
                          <a:latin typeface="Arial"/>
                        </a:defRPr>
                      </a:pPr>
                      <a:r>
                        <a:t>DME</a:t>
                      </a:r>
                    </a:p>
                  </a:txBody>
                  <a:tcPr>
                    <a:solidFill>
                      <a:srgbClr val="F4F5F7"/>
                    </a:solidFill>
                  </a:tcPr>
                </a:tc>
                <a:tc>
                  <a:txBody>
                    <a:bodyPr/>
                    <a:lstStyle/>
                    <a:p>
                      <a:pPr>
                        <a:defRPr sz="1300">
                          <a:solidFill>
                            <a:srgbClr val="222222"/>
                          </a:solidFill>
                          <a:latin typeface="Arial"/>
                        </a:defRPr>
                      </a:pPr>
                      <a:r>
                        <a:t>5001 us</a:t>
                      </a:r>
                    </a:p>
                  </a:txBody>
                  <a:tcPr>
                    <a:solidFill>
                      <a:srgbClr val="F4F5F7"/>
                    </a:solidFill>
                  </a:tcPr>
                </a:tc>
                <a:tc>
                  <a:txBody>
                    <a:bodyPr/>
                    <a:lstStyle/>
                    <a:p>
                      <a:pPr>
                        <a:defRPr sz="1300">
                          <a:solidFill>
                            <a:srgbClr val="222222"/>
                          </a:solidFill>
                          <a:latin typeface="Arial"/>
                        </a:defRPr>
                      </a:pPr>
                      <a:r>
                        <a:t>safe_float(..., 100)</a:t>
                      </a:r>
                    </a:p>
                  </a:txBody>
                  <a:tcPr>
                    <a:solidFill>
                      <a:srgbClr val="F4F5F7"/>
                    </a:solidFill>
                  </a:tcPr>
                </a:tc>
                <a:tc>
                  <a:txBody>
                    <a:bodyPr/>
                    <a:lstStyle/>
                    <a:p>
                      <a:pPr>
                        <a:defRPr sz="1300">
                          <a:solidFill>
                            <a:srgbClr val="222222"/>
                          </a:solidFill>
                          <a:latin typeface="Arial"/>
                        </a:defRPr>
                      </a:pPr>
                      <a:r>
                        <a:t>50.01 µs</a:t>
                      </a:r>
                    </a:p>
                  </a:txBody>
                  <a:tcPr>
                    <a:solidFill>
                      <a:srgbClr val="F4F5F7"/>
                    </a:solidFill>
                  </a:tcPr>
                </a:tc>
                <a:extLst>
                  <a:ext uri="{0D108BD9-81ED-4DB2-BD59-A6C34878D82A}">
                    <a16:rowId xmlns:a16="http://schemas.microsoft.com/office/drawing/2014/main" val="10006"/>
                  </a:ext>
                </a:extLst>
              </a:tr>
              <a:tr h="432261">
                <a:tc>
                  <a:txBody>
                    <a:bodyPr/>
                    <a:lstStyle/>
                    <a:p>
                      <a:pPr>
                        <a:defRPr sz="1300">
                          <a:solidFill>
                            <a:srgbClr val="222222"/>
                          </a:solidFill>
                          <a:latin typeface="Arial"/>
                        </a:defRPr>
                      </a:pPr>
                      <a:r>
                        <a:t>Spacing</a:t>
                      </a:r>
                    </a:p>
                  </a:txBody>
                  <a:tcPr>
                    <a:solidFill>
                      <a:srgbClr val="FFFFFF"/>
                    </a:solidFill>
                  </a:tcPr>
                </a:tc>
                <a:tc>
                  <a:txBody>
                    <a:bodyPr/>
                    <a:lstStyle/>
                    <a:p>
                      <a:pPr>
                        <a:defRPr sz="1300">
                          <a:solidFill>
                            <a:srgbClr val="222222"/>
                          </a:solidFill>
                          <a:latin typeface="Arial"/>
                        </a:defRPr>
                      </a:pPr>
                      <a:r>
                        <a:t>DME</a:t>
                      </a:r>
                    </a:p>
                  </a:txBody>
                  <a:tcPr>
                    <a:solidFill>
                      <a:srgbClr val="FFFFFF"/>
                    </a:solidFill>
                  </a:tcPr>
                </a:tc>
                <a:tc>
                  <a:txBody>
                    <a:bodyPr/>
                    <a:lstStyle/>
                    <a:p>
                      <a:pPr>
                        <a:defRPr sz="1300">
                          <a:solidFill>
                            <a:srgbClr val="222222"/>
                          </a:solidFill>
                          <a:latin typeface="Arial"/>
                        </a:defRPr>
                      </a:pPr>
                      <a:r>
                        <a:t>1198 us</a:t>
                      </a:r>
                    </a:p>
                  </a:txBody>
                  <a:tcPr>
                    <a:solidFill>
                      <a:srgbClr val="FFFFFF"/>
                    </a:solidFill>
                  </a:tcPr>
                </a:tc>
                <a:tc>
                  <a:txBody>
                    <a:bodyPr/>
                    <a:lstStyle/>
                    <a:p>
                      <a:pPr>
                        <a:defRPr sz="1300">
                          <a:solidFill>
                            <a:srgbClr val="222222"/>
                          </a:solidFill>
                          <a:latin typeface="Arial"/>
                        </a:defRPr>
                      </a:pPr>
                      <a:r>
                        <a:t>safe_float(..., 100)</a:t>
                      </a:r>
                    </a:p>
                  </a:txBody>
                  <a:tcPr>
                    <a:solidFill>
                      <a:srgbClr val="FFFFFF"/>
                    </a:solidFill>
                  </a:tcPr>
                </a:tc>
                <a:tc>
                  <a:txBody>
                    <a:bodyPr/>
                    <a:lstStyle/>
                    <a:p>
                      <a:pPr>
                        <a:defRPr sz="1300">
                          <a:solidFill>
                            <a:srgbClr val="222222"/>
                          </a:solidFill>
                          <a:latin typeface="Arial"/>
                        </a:defRPr>
                      </a:pPr>
                      <a:r>
                        <a:t>11.98 µs</a:t>
                      </a:r>
                    </a:p>
                  </a:txBody>
                  <a:tcPr>
                    <a:solidFill>
                      <a:srgbClr val="FFFFFF"/>
                    </a:solidFill>
                  </a:tcPr>
                </a:tc>
                <a:extLst>
                  <a:ext uri="{0D108BD9-81ED-4DB2-BD59-A6C34878D82A}">
                    <a16:rowId xmlns:a16="http://schemas.microsoft.com/office/drawing/2014/main" val="10007"/>
                  </a:ext>
                </a:extLst>
              </a:tr>
              <a:tr h="432261">
                <a:tc>
                  <a:txBody>
                    <a:bodyPr/>
                    <a:lstStyle/>
                    <a:p>
                      <a:pPr>
                        <a:defRPr sz="1300">
                          <a:solidFill>
                            <a:srgbClr val="222222"/>
                          </a:solidFill>
                          <a:latin typeface="Arial"/>
                        </a:defRPr>
                      </a:pPr>
                      <a:r>
                        <a:t>TxPower</a:t>
                      </a:r>
                    </a:p>
                  </a:txBody>
                  <a:tcPr>
                    <a:solidFill>
                      <a:srgbClr val="F4F5F7"/>
                    </a:solidFill>
                  </a:tcPr>
                </a:tc>
                <a:tc>
                  <a:txBody>
                    <a:bodyPr/>
                    <a:lstStyle/>
                    <a:p>
                      <a:pPr>
                        <a:defRPr sz="1300">
                          <a:solidFill>
                            <a:srgbClr val="222222"/>
                          </a:solidFill>
                          <a:latin typeface="Arial"/>
                        </a:defRPr>
                      </a:pPr>
                      <a:r>
                        <a:t>DME</a:t>
                      </a:r>
                    </a:p>
                  </a:txBody>
                  <a:tcPr>
                    <a:solidFill>
                      <a:srgbClr val="F4F5F7"/>
                    </a:solidFill>
                  </a:tcPr>
                </a:tc>
                <a:tc>
                  <a:txBody>
                    <a:bodyPr/>
                    <a:lstStyle/>
                    <a:p>
                      <a:pPr>
                        <a:defRPr sz="1300">
                          <a:solidFill>
                            <a:srgbClr val="222222"/>
                          </a:solidFill>
                          <a:latin typeface="Arial"/>
                        </a:defRPr>
                      </a:pPr>
                      <a:r>
                        <a:t>1061 Watts</a:t>
                      </a:r>
                    </a:p>
                  </a:txBody>
                  <a:tcPr>
                    <a:solidFill>
                      <a:srgbClr val="F4F5F7"/>
                    </a:solidFill>
                  </a:tcPr>
                </a:tc>
                <a:tc>
                  <a:txBody>
                    <a:bodyPr/>
                    <a:lstStyle/>
                    <a:p>
                      <a:pPr>
                        <a:defRPr sz="1300">
                          <a:solidFill>
                            <a:srgbClr val="222222"/>
                          </a:solidFill>
                          <a:latin typeface="Arial"/>
                        </a:defRPr>
                      </a:pPr>
                      <a:r>
                        <a:t>safe_float(..., 1)</a:t>
                      </a:r>
                    </a:p>
                  </a:txBody>
                  <a:tcPr>
                    <a:solidFill>
                      <a:srgbClr val="F4F5F7"/>
                    </a:solidFill>
                  </a:tcPr>
                </a:tc>
                <a:tc>
                  <a:txBody>
                    <a:bodyPr/>
                    <a:lstStyle/>
                    <a:p>
                      <a:pPr>
                        <a:defRPr sz="1300">
                          <a:solidFill>
                            <a:srgbClr val="222222"/>
                          </a:solidFill>
                          <a:latin typeface="Arial"/>
                        </a:defRPr>
                      </a:pPr>
                      <a:r>
                        <a:t>1061 W</a:t>
                      </a:r>
                    </a:p>
                  </a:txBody>
                  <a:tcPr>
                    <a:solidFill>
                      <a:srgbClr val="F4F5F7"/>
                    </a:solidFill>
                  </a:tcPr>
                </a:tc>
                <a:extLst>
                  <a:ext uri="{0D108BD9-81ED-4DB2-BD59-A6C34878D82A}">
                    <a16:rowId xmlns:a16="http://schemas.microsoft.com/office/drawing/2014/main" val="10008"/>
                  </a:ext>
                </a:extLst>
              </a:tr>
              <a:tr h="432261">
                <a:tc>
                  <a:txBody>
                    <a:bodyPr/>
                    <a:lstStyle/>
                    <a:p>
                      <a:pPr>
                        <a:defRPr sz="1300">
                          <a:solidFill>
                            <a:srgbClr val="222222"/>
                          </a:solidFill>
                          <a:latin typeface="Arial"/>
                        </a:defRPr>
                      </a:pPr>
                      <a:r>
                        <a:t>ERP</a:t>
                      </a:r>
                    </a:p>
                  </a:txBody>
                  <a:tcPr>
                    <a:solidFill>
                      <a:srgbClr val="FFFFFF"/>
                    </a:solidFill>
                  </a:tcPr>
                </a:tc>
                <a:tc>
                  <a:txBody>
                    <a:bodyPr/>
                    <a:lstStyle/>
                    <a:p>
                      <a:pPr>
                        <a:defRPr sz="1300">
                          <a:solidFill>
                            <a:srgbClr val="222222"/>
                          </a:solidFill>
                          <a:latin typeface="Arial"/>
                        </a:defRPr>
                      </a:pPr>
                      <a:r>
                        <a:t>DME</a:t>
                      </a:r>
                    </a:p>
                  </a:txBody>
                  <a:tcPr>
                    <a:solidFill>
                      <a:srgbClr val="FFFFFF"/>
                    </a:solidFill>
                  </a:tcPr>
                </a:tc>
                <a:tc>
                  <a:txBody>
                    <a:bodyPr/>
                    <a:lstStyle/>
                    <a:p>
                      <a:pPr>
                        <a:defRPr sz="1300">
                          <a:solidFill>
                            <a:srgbClr val="222222"/>
                          </a:solidFill>
                          <a:latin typeface="Arial"/>
                        </a:defRPr>
                      </a:pPr>
                      <a:r>
                        <a:t>15</a:t>
                      </a:r>
                    </a:p>
                  </a:txBody>
                  <a:tcPr>
                    <a:solidFill>
                      <a:srgbClr val="FFFFFF"/>
                    </a:solidFill>
                  </a:tcPr>
                </a:tc>
                <a:tc>
                  <a:txBody>
                    <a:bodyPr/>
                    <a:lstStyle/>
                    <a:p>
                      <a:pPr>
                        <a:defRPr sz="1300">
                          <a:solidFill>
                            <a:srgbClr val="222222"/>
                          </a:solidFill>
                          <a:latin typeface="Arial"/>
                        </a:defRPr>
                      </a:pPr>
                      <a:r>
                        <a:t>safe_float(..., 10)</a:t>
                      </a:r>
                    </a:p>
                  </a:txBody>
                  <a:tcPr>
                    <a:solidFill>
                      <a:srgbClr val="FFFFFF"/>
                    </a:solidFill>
                  </a:tcPr>
                </a:tc>
                <a:tc>
                  <a:txBody>
                    <a:bodyPr/>
                    <a:lstStyle/>
                    <a:p>
                      <a:pPr>
                        <a:defRPr sz="1300">
                          <a:solidFill>
                            <a:srgbClr val="222222"/>
                          </a:solidFill>
                          <a:latin typeface="Arial"/>
                        </a:defRPr>
                      </a:pPr>
                      <a:r>
                        <a:t>1.5 dB</a:t>
                      </a:r>
                    </a:p>
                  </a:txBody>
                  <a:tcPr>
                    <a:solidFill>
                      <a:srgbClr val="FFFFFF"/>
                    </a:solidFill>
                  </a:tcPr>
                </a:tc>
                <a:extLst>
                  <a:ext uri="{0D108BD9-81ED-4DB2-BD59-A6C34878D82A}">
                    <a16:rowId xmlns:a16="http://schemas.microsoft.com/office/drawing/2014/main" val="10009"/>
                  </a:ext>
                </a:extLst>
              </a:tr>
              <a:tr h="432270">
                <a:tc>
                  <a:txBody>
                    <a:bodyPr/>
                    <a:lstStyle/>
                    <a:p>
                      <a:pPr>
                        <a:defRPr sz="1300">
                          <a:solidFill>
                            <a:srgbClr val="222222"/>
                          </a:solidFill>
                          <a:latin typeface="Arial"/>
                        </a:defRPr>
                      </a:pPr>
                      <a:r>
                        <a:t>Efficiency</a:t>
                      </a:r>
                    </a:p>
                  </a:txBody>
                  <a:tcPr>
                    <a:solidFill>
                      <a:srgbClr val="F4F5F7"/>
                    </a:solidFill>
                  </a:tcPr>
                </a:tc>
                <a:tc>
                  <a:txBody>
                    <a:bodyPr/>
                    <a:lstStyle/>
                    <a:p>
                      <a:pPr>
                        <a:defRPr sz="1300">
                          <a:solidFill>
                            <a:srgbClr val="222222"/>
                          </a:solidFill>
                          <a:latin typeface="Arial"/>
                        </a:defRPr>
                      </a:pPr>
                      <a:r>
                        <a:t>DME</a:t>
                      </a:r>
                    </a:p>
                  </a:txBody>
                  <a:tcPr>
                    <a:solidFill>
                      <a:srgbClr val="F4F5F7"/>
                    </a:solidFill>
                  </a:tcPr>
                </a:tc>
                <a:tc>
                  <a:txBody>
                    <a:bodyPr/>
                    <a:lstStyle/>
                    <a:p>
                      <a:pPr>
                        <a:defRPr sz="1300">
                          <a:solidFill>
                            <a:srgbClr val="222222"/>
                          </a:solidFill>
                          <a:latin typeface="Arial"/>
                        </a:defRPr>
                      </a:pPr>
                      <a:r>
                        <a:t>1000%</a:t>
                      </a:r>
                    </a:p>
                  </a:txBody>
                  <a:tcPr>
                    <a:solidFill>
                      <a:srgbClr val="F4F5F7"/>
                    </a:solidFill>
                  </a:tcPr>
                </a:tc>
                <a:tc>
                  <a:txBody>
                    <a:bodyPr/>
                    <a:lstStyle/>
                    <a:p>
                      <a:pPr>
                        <a:defRPr sz="1300">
                          <a:solidFill>
                            <a:srgbClr val="222222"/>
                          </a:solidFill>
                          <a:latin typeface="Arial"/>
                        </a:defRPr>
                      </a:pPr>
                      <a:r>
                        <a:t>safe_float(..., 10)</a:t>
                      </a:r>
                    </a:p>
                  </a:txBody>
                  <a:tcPr>
                    <a:solidFill>
                      <a:srgbClr val="F4F5F7"/>
                    </a:solidFill>
                  </a:tcPr>
                </a:tc>
                <a:tc>
                  <a:txBody>
                    <a:bodyPr/>
                    <a:lstStyle/>
                    <a:p>
                      <a:pPr>
                        <a:defRPr sz="1300">
                          <a:solidFill>
                            <a:srgbClr val="222222"/>
                          </a:solidFill>
                          <a:latin typeface="Arial"/>
                        </a:defRPr>
                      </a:pPr>
                      <a:r>
                        <a:t>100 %</a:t>
                      </a:r>
                    </a:p>
                  </a:txBody>
                  <a:tcPr>
                    <a:solidFill>
                      <a:srgbClr val="F4F5F7"/>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0061A3"/>
          </a:solidFill>
          <a:ln>
            <a:solidFill>
              <a:srgbClr val="0061A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10515600" cy="731520"/>
          </a:xfrm>
          <a:prstGeom prst="rect">
            <a:avLst/>
          </a:prstGeom>
          <a:noFill/>
        </p:spPr>
        <p:txBody>
          <a:bodyPr wrap="none">
            <a:spAutoFit/>
          </a:bodyPr>
          <a:lstStyle/>
          <a:p>
            <a:pPr>
              <a:defRPr sz="2600" b="1">
                <a:solidFill>
                  <a:srgbClr val="FFFFFF"/>
                </a:solidFill>
                <a:latin typeface="Arial"/>
              </a:defRPr>
            </a:pPr>
            <a:r>
              <a:t>4. HƯỚNG DẪN CẤU HÌNH HỆ SINH THÁI CLOUDFLARE</a:t>
            </a:r>
          </a:p>
        </p:txBody>
      </p:sp>
      <p:sp>
        <p:nvSpPr>
          <p:cNvPr id="4" name="TextBox 3"/>
          <p:cNvSpPr txBox="1"/>
          <p:nvPr/>
        </p:nvSpPr>
        <p:spPr>
          <a:xfrm>
            <a:off x="731520" y="1463040"/>
            <a:ext cx="10515600" cy="4754880"/>
          </a:xfrm>
          <a:prstGeom prst="rect">
            <a:avLst/>
          </a:prstGeom>
          <a:noFill/>
        </p:spPr>
        <p:txBody>
          <a:bodyPr wrap="square">
            <a:spAutoFit/>
          </a:bodyPr>
          <a:lstStyle/>
          <a:p>
            <a:pPr>
              <a:spcAft>
                <a:spcPts val="1600"/>
              </a:spcAft>
              <a:defRPr sz="1800">
                <a:solidFill>
                  <a:srgbClr val="222222"/>
                </a:solidFill>
                <a:latin typeface="Arial"/>
              </a:defRPr>
            </a:pPr>
            <a:r>
              <a:t>• Cloudflare Tunnel (cloudflared): Tạo đường hầm bảo mật trỏ localhost:5050 ra sirms-api.hainh.io.vn. Tích hợp WAF rule kiểm tra Header authorization để chặn truy cập trái phép.</a:t>
            </a:r>
          </a:p>
          <a:p>
            <a:pPr>
              <a:spcAft>
                <a:spcPts val="1600"/>
              </a:spcAft>
              <a:defRPr sz="1800">
                <a:solidFill>
                  <a:srgbClr val="222222"/>
                </a:solidFill>
                <a:latin typeface="Arial"/>
              </a:defRPr>
            </a:pPr>
            <a:r>
              <a:t>• Cloudflare D1 Database (SQL Serverless): Khởi tạo các bảng tasks, shift_schedules, sirms_data, navaid_limits, push_subscriptions, webauthn_credentials.</a:t>
            </a:r>
          </a:p>
          <a:p>
            <a:pPr>
              <a:spcAft>
                <a:spcPts val="1600"/>
              </a:spcAft>
              <a:defRPr sz="1800">
                <a:solidFill>
                  <a:srgbClr val="222222"/>
                </a:solidFill>
                <a:latin typeface="Arial"/>
              </a:defRPr>
            </a:pPr>
            <a:r>
              <a:t>• Cloudflare KV Namespace: Bộ nhớ đệm tốc độ cao lưu trữ Rate Limiting, Captcha và WebAuthn Challenges.</a:t>
            </a:r>
          </a:p>
          <a:p>
            <a:pPr>
              <a:spcAft>
                <a:spcPts val="1600"/>
              </a:spcAft>
              <a:defRPr sz="1800">
                <a:solidFill>
                  <a:srgbClr val="222222"/>
                </a:solidFill>
                <a:latin typeface="Arial"/>
              </a:defRPr>
            </a:pPr>
            <a:r>
              <a:t>• sirms-worker &amp; Cron Trigger: Cấu hình chạy tự động mỗi 15 phút (0/15 * * * *), lấy dữ liệu từ Tunnel, lưu D1, kiểm tra ngưỡng và bắn Push Notification.</a:t>
            </a:r>
          </a:p>
          <a:p>
            <a:pPr>
              <a:spcAft>
                <a:spcPts val="1600"/>
              </a:spcAft>
              <a:defRPr sz="1800">
                <a:solidFill>
                  <a:srgbClr val="222222"/>
                </a:solidFill>
                <a:latin typeface="Arial"/>
              </a:defRPr>
            </a:pPr>
            <a:r>
              <a:t>• Cloudflare Pages &amp; K1 Nameserver: Triển khai PWA React Frontend, quản lý DNS tập trung.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CAC3FF-08FC-01DA-EE71-27DBBFA1871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5FB2315-4EC2-2D0F-F78F-1E70EF32986B}"/>
              </a:ext>
            </a:extLst>
          </p:cNvPr>
          <p:cNvSpPr/>
          <p:nvPr/>
        </p:nvSpPr>
        <p:spPr>
          <a:xfrm>
            <a:off x="0" y="0"/>
            <a:ext cx="12191695" cy="1097280"/>
          </a:xfrm>
          <a:prstGeom prst="rect">
            <a:avLst/>
          </a:prstGeom>
          <a:solidFill>
            <a:srgbClr val="0061A3"/>
          </a:solidFill>
          <a:ln>
            <a:solidFill>
              <a:srgbClr val="0061A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D7EBE4FA-229E-8ACB-88E4-17A473BC9193}"/>
              </a:ext>
            </a:extLst>
          </p:cNvPr>
          <p:cNvSpPr txBox="1"/>
          <p:nvPr/>
        </p:nvSpPr>
        <p:spPr>
          <a:xfrm>
            <a:off x="731520" y="182880"/>
            <a:ext cx="6009979" cy="492443"/>
          </a:xfrm>
          <a:prstGeom prst="rect">
            <a:avLst/>
          </a:prstGeom>
          <a:noFill/>
        </p:spPr>
        <p:txBody>
          <a:bodyPr wrap="none">
            <a:spAutoFit/>
          </a:bodyPr>
          <a:lstStyle/>
          <a:p>
            <a:pPr>
              <a:defRPr sz="2600" b="1">
                <a:solidFill>
                  <a:srgbClr val="FFFFFF"/>
                </a:solidFill>
                <a:latin typeface="Arial"/>
              </a:defRPr>
            </a:pPr>
            <a:r>
              <a:rPr lang="en-US" dirty="0"/>
              <a:t>5</a:t>
            </a:r>
            <a:r>
              <a:rPr dirty="0"/>
              <a:t>. </a:t>
            </a:r>
            <a:r>
              <a:rPr lang="en-US" dirty="0"/>
              <a:t>SƠ ĐỒ HOẠT ĐỘNG TỔNG QUAN</a:t>
            </a:r>
            <a:endParaRPr dirty="0"/>
          </a:p>
        </p:txBody>
      </p:sp>
      <p:pic>
        <p:nvPicPr>
          <p:cNvPr id="12" name="Picture 11">
            <a:extLst>
              <a:ext uri="{FF2B5EF4-FFF2-40B4-BE49-F238E27FC236}">
                <a16:creationId xmlns:a16="http://schemas.microsoft.com/office/drawing/2014/main" id="{0546453B-ECE0-2392-C4C2-BB9BA3F8AE70}"/>
              </a:ext>
            </a:extLst>
          </p:cNvPr>
          <p:cNvPicPr>
            <a:picLocks noChangeAspect="1"/>
          </p:cNvPicPr>
          <p:nvPr/>
        </p:nvPicPr>
        <p:blipFill>
          <a:blip r:embed="rId2"/>
          <a:stretch>
            <a:fillRect/>
          </a:stretch>
        </p:blipFill>
        <p:spPr>
          <a:xfrm>
            <a:off x="1635139" y="1225322"/>
            <a:ext cx="8921722" cy="5632677"/>
          </a:xfrm>
          <a:prstGeom prst="rect">
            <a:avLst/>
          </a:prstGeom>
        </p:spPr>
      </p:pic>
    </p:spTree>
    <p:extLst>
      <p:ext uri="{BB962C8B-B14F-4D97-AF65-F5344CB8AC3E}">
        <p14:creationId xmlns:p14="http://schemas.microsoft.com/office/powerpoint/2010/main" val="16214246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0061A3"/>
          </a:solidFill>
          <a:ln>
            <a:solidFill>
              <a:srgbClr val="0061A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7188186" cy="492443"/>
          </a:xfrm>
          <a:prstGeom prst="rect">
            <a:avLst/>
          </a:prstGeom>
          <a:noFill/>
        </p:spPr>
        <p:txBody>
          <a:bodyPr wrap="none">
            <a:spAutoFit/>
          </a:bodyPr>
          <a:lstStyle/>
          <a:p>
            <a:pPr>
              <a:defRPr sz="2600" b="1">
                <a:solidFill>
                  <a:srgbClr val="FFFFFF"/>
                </a:solidFill>
                <a:latin typeface="Arial"/>
              </a:defRPr>
            </a:pPr>
            <a:r>
              <a:rPr lang="en-US" dirty="0"/>
              <a:t>6</a:t>
            </a:r>
            <a:r>
              <a:rPr dirty="0"/>
              <a:t>. TỔNG KẾT &amp; KHUYẾN NGHỊ NHÂN RỘNG</a:t>
            </a:r>
          </a:p>
        </p:txBody>
      </p:sp>
      <p:sp>
        <p:nvSpPr>
          <p:cNvPr id="4" name="TextBox 3"/>
          <p:cNvSpPr txBox="1"/>
          <p:nvPr/>
        </p:nvSpPr>
        <p:spPr>
          <a:xfrm>
            <a:off x="731520" y="1463040"/>
            <a:ext cx="10515600" cy="4754880"/>
          </a:xfrm>
          <a:prstGeom prst="rect">
            <a:avLst/>
          </a:prstGeom>
          <a:noFill/>
        </p:spPr>
        <p:txBody>
          <a:bodyPr wrap="square">
            <a:spAutoFit/>
          </a:bodyPr>
          <a:lstStyle/>
          <a:p>
            <a:pPr>
              <a:spcAft>
                <a:spcPts val="1600"/>
              </a:spcAft>
              <a:defRPr sz="1800">
                <a:solidFill>
                  <a:srgbClr val="222222"/>
                </a:solidFill>
                <a:latin typeface="Arial"/>
              </a:defRPr>
            </a:pPr>
            <a:r>
              <a:t>• Hiệu quả Kỹ thuật: Hệ thống hoạt động ổn định 24/7, bảo mật tuyệt đối nhờ kiến trúc Serverless và xác thực đa tầng. Trải nghiệm PWA hiện đại như ứng dụng Native.</a:t>
            </a:r>
          </a:p>
          <a:p>
            <a:pPr>
              <a:spcAft>
                <a:spcPts val="1600"/>
              </a:spcAft>
              <a:defRPr sz="1800">
                <a:solidFill>
                  <a:srgbClr val="222222"/>
                </a:solidFill>
                <a:latin typeface="Arial"/>
              </a:defRPr>
            </a:pPr>
            <a:r>
              <a:t>• Hiệu quả Kinh tế: Tận dụng tối đa hạ tầng miễn phí của Cloudflare, tiết kiệm 100% chi phí mua sắm và vận hành máy chủ.</a:t>
            </a:r>
          </a:p>
          <a:p>
            <a:pPr>
              <a:spcAft>
                <a:spcPts val="1600"/>
              </a:spcAft>
              <a:defRPr sz="1800">
                <a:solidFill>
                  <a:srgbClr val="222222"/>
                </a:solidFill>
                <a:latin typeface="Arial"/>
              </a:defRPr>
            </a:pPr>
            <a:r>
              <a:t>• Khuyến nghị Nhân rộng: Với khả năng linh hoạt cao trong việc thay đổi nguồn thu thập dữ liệu, chỉ cần thay đổi giao diện và cấu hình IP của thiết bị SNMP là có thể áp dụng cho các đài trạm CNS khác trong Trung tâm Bảo đảm Kỹ thuật.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18</TotalTime>
  <Words>1236</Words>
  <Application>Microsoft Office PowerPoint</Application>
  <PresentationFormat>Widescreen</PresentationFormat>
  <Paragraphs>103</Paragraphs>
  <Slides>13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TUH ATTECH</cp:lastModifiedBy>
  <cp:revision>2</cp:revision>
  <dcterms:created xsi:type="dcterms:W3CDTF">2013-01-27T09:14:16Z</dcterms:created>
  <dcterms:modified xsi:type="dcterms:W3CDTF">2026-05-17T02:04:09Z</dcterms:modified>
  <cp:category/>
</cp:coreProperties>
</file>